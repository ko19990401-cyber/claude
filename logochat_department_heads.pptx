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12188952" cy="3200400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274320"/>
            <a:ext cx="2286000" cy="2286000"/>
          </a:xfrm>
          <a:prstGeom prst="ellipse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1097280"/>
            <a:ext cx="1645920" cy="1645920"/>
          </a:xfrm>
          <a:prstGeom prst="ellipse">
            <a:avLst/>
          </a:prstGeom>
          <a:solidFill>
            <a:srgbClr val="0D3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645920" cy="54864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</a:rPr>
              <a:t>LoGoチャット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8686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メイリオ"/>
              </a:rPr>
              <a:t>LoGoチャット
試験運用のご案内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3337560"/>
            <a:ext cx="12188952" cy="3154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566160"/>
            <a:ext cx="91440" cy="18288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520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2D5E"/>
                </a:solidFill>
                <a:latin typeface="メイリオ"/>
              </a:rPr>
              <a:t>各課からの担当者選出のお願い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297680"/>
            <a:ext cx="11274552" cy="27432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24242"/>
                </a:solidFill>
                <a:latin typeface="メイリオ"/>
              </a:rPr>
              <a:t>令和8年4月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24242"/>
                </a:solidFill>
                <a:latin typeface="メイリオ"/>
              </a:rPr>
              <a:t>情報担当課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メイリオ"/>
              </a:rPr>
              <a:t>LoGoチャット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メイリオ"/>
              </a:rPr>
              <a:t>情報担当課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メイリオ"/>
              </a:rPr>
              <a:t>LoGoチャットとは？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94960" cy="5029200"/>
          </a:xfrm>
          <a:prstGeom prst="rect">
            <a:avLst/>
          </a:prstGeom>
          <a:solidFill>
            <a:srgbClr val="E8F0FA"/>
          </a:solidFill>
          <a:ln w="1905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94960" cy="64008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メイリオ"/>
              </a:rPr>
              <a:t>🏢  自治体職員専用のビジネスチャット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594360" cy="59436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  <a:latin typeface="メイリオ"/>
              </a:rPr>
              <a:t>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65960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D5E"/>
                </a:solidFill>
                <a:latin typeface="メイリオ"/>
              </a:rPr>
              <a:t>全国の自治体職員とチャットで繋がれる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594360" cy="59436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  <a:latin typeface="メイリオ"/>
              </a:rP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246120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D5E"/>
                </a:solidFill>
                <a:latin typeface="メイリオ"/>
              </a:rPr>
              <a:t>メール・電話より迅速・気軽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79"/>
            <a:ext cx="594360" cy="59436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  <a:latin typeface="メイリオ"/>
              </a:rPr>
              <a:t>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526279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D5E"/>
                </a:solidFill>
                <a:latin typeface="メイリオ"/>
              </a:rPr>
              <a:t>写真・位置情報・ファイルの共有が可能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188720"/>
            <a:ext cx="5394960" cy="5029200"/>
          </a:xfrm>
          <a:prstGeom prst="rect">
            <a:avLst/>
          </a:prstGeom>
          <a:solidFill>
            <a:srgbClr val="E8F0FA"/>
          </a:solidFill>
          <a:ln w="1905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188720"/>
            <a:ext cx="5394960" cy="640080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2344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メイリオ"/>
              </a:rPr>
              <a:t>📱  現場対応力の強化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1965960"/>
            <a:ext cx="594360" cy="594360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  <a:latin typeface="メイリオ"/>
              </a:rPr>
              <a:t>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1965960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D5E"/>
                </a:solidFill>
                <a:latin typeface="メイリオ"/>
              </a:rPr>
              <a:t>スマートフォン（私用端末BYODも可）で使える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3246120"/>
            <a:ext cx="594360" cy="594360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  <a:latin typeface="メイリオ"/>
              </a:rPr>
              <a:t>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246120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D5E"/>
                </a:solidFill>
                <a:latin typeface="メイリオ"/>
              </a:rPr>
              <a:t>現場写真や位置情報を即座に職場PCへ送信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4526279"/>
            <a:ext cx="594360" cy="594360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  <a:latin typeface="メイリオ"/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526279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D5E"/>
                </a:solidFill>
                <a:latin typeface="メイリオ"/>
              </a:rPr>
              <a:t>迅速な状況報告と指示が可能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メイリオ"/>
              </a:rPr>
              <a:t>LoGoチャット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メイリオ"/>
              </a:rPr>
              <a:t>情報担当課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メイリオ"/>
              </a:rPr>
              <a:t>今回の配布状況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D5E"/>
                </a:solidFill>
                <a:latin typeface="メイリオ"/>
              </a:rPr>
              <a:t>全アカウント数：10個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737360"/>
            <a:ext cx="594360" cy="594360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377439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24242"/>
                </a:solidFill>
                <a:latin typeface="メイリオ"/>
              </a:rPr>
              <a:t>管理者</a:t>
            </a:r>
          </a:p>
        </p:txBody>
      </p:sp>
      <p:sp>
        <p:nvSpPr>
          <p:cNvPr id="8" name="Oval 7"/>
          <p:cNvSpPr/>
          <p:nvPr/>
        </p:nvSpPr>
        <p:spPr>
          <a:xfrm>
            <a:off x="1572768" y="1737360"/>
            <a:ext cx="594360" cy="594360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2377439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24242"/>
                </a:solidFill>
                <a:latin typeface="メイリオ"/>
              </a:rPr>
              <a:t>情報担当</a:t>
            </a:r>
          </a:p>
        </p:txBody>
      </p:sp>
      <p:sp>
        <p:nvSpPr>
          <p:cNvPr id="10" name="Oval 9"/>
          <p:cNvSpPr/>
          <p:nvPr/>
        </p:nvSpPr>
        <p:spPr>
          <a:xfrm>
            <a:off x="2688336" y="1737360"/>
            <a:ext cx="594360" cy="59436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96896" y="2377439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24242"/>
                </a:solidFill>
                <a:latin typeface="メイリオ"/>
              </a:rPr>
              <a:t>総務課①</a:t>
            </a:r>
          </a:p>
        </p:txBody>
      </p:sp>
      <p:sp>
        <p:nvSpPr>
          <p:cNvPr id="12" name="Oval 11"/>
          <p:cNvSpPr/>
          <p:nvPr/>
        </p:nvSpPr>
        <p:spPr>
          <a:xfrm>
            <a:off x="3803904" y="1737360"/>
            <a:ext cx="594360" cy="59436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2377439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24242"/>
                </a:solidFill>
                <a:latin typeface="メイリオ"/>
              </a:rPr>
              <a:t>総務課②</a:t>
            </a:r>
          </a:p>
        </p:txBody>
      </p:sp>
      <p:sp>
        <p:nvSpPr>
          <p:cNvPr id="14" name="Oval 13"/>
          <p:cNvSpPr/>
          <p:nvPr/>
        </p:nvSpPr>
        <p:spPr>
          <a:xfrm>
            <a:off x="4919472" y="1737360"/>
            <a:ext cx="594360" cy="59436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2" y="2377439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24242"/>
                </a:solidFill>
                <a:latin typeface="メイリオ"/>
              </a:rPr>
              <a:t>企画商工</a:t>
            </a:r>
          </a:p>
        </p:txBody>
      </p:sp>
      <p:sp>
        <p:nvSpPr>
          <p:cNvPr id="16" name="Oval 15"/>
          <p:cNvSpPr/>
          <p:nvPr/>
        </p:nvSpPr>
        <p:spPr>
          <a:xfrm>
            <a:off x="6035040" y="1737360"/>
            <a:ext cx="594360" cy="59436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377439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24242"/>
                </a:solidFill>
                <a:latin typeface="メイリオ"/>
              </a:rPr>
              <a:t>農務課</a:t>
            </a:r>
          </a:p>
        </p:txBody>
      </p:sp>
      <p:sp>
        <p:nvSpPr>
          <p:cNvPr id="18" name="Oval 17"/>
          <p:cNvSpPr/>
          <p:nvPr/>
        </p:nvSpPr>
        <p:spPr>
          <a:xfrm>
            <a:off x="7150608" y="1737360"/>
            <a:ext cx="594360" cy="59436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2377439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24242"/>
                </a:solidFill>
                <a:latin typeface="メイリオ"/>
              </a:rPr>
              <a:t>建設水道</a:t>
            </a:r>
          </a:p>
        </p:txBody>
      </p:sp>
      <p:sp>
        <p:nvSpPr>
          <p:cNvPr id="20" name="Oval 19"/>
          <p:cNvSpPr/>
          <p:nvPr/>
        </p:nvSpPr>
        <p:spPr>
          <a:xfrm>
            <a:off x="8266175" y="1737360"/>
            <a:ext cx="594360" cy="59436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2377439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24242"/>
                </a:solidFill>
                <a:latin typeface="メイリオ"/>
              </a:rPr>
              <a:t>住民生活</a:t>
            </a:r>
          </a:p>
        </p:txBody>
      </p:sp>
      <p:sp>
        <p:nvSpPr>
          <p:cNvPr id="22" name="Oval 21"/>
          <p:cNvSpPr/>
          <p:nvPr/>
        </p:nvSpPr>
        <p:spPr>
          <a:xfrm>
            <a:off x="9381744" y="1737360"/>
            <a:ext cx="594360" cy="59436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2377439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24242"/>
                </a:solidFill>
                <a:latin typeface="メイリオ"/>
              </a:rPr>
              <a:t>保健福祉</a:t>
            </a:r>
          </a:p>
        </p:txBody>
      </p:sp>
      <p:sp>
        <p:nvSpPr>
          <p:cNvPr id="24" name="Oval 23"/>
          <p:cNvSpPr/>
          <p:nvPr/>
        </p:nvSpPr>
        <p:spPr>
          <a:xfrm>
            <a:off x="10497312" y="1737360"/>
            <a:ext cx="594360" cy="59436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05872" y="2377439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24242"/>
                </a:solidFill>
                <a:latin typeface="メイリオ"/>
              </a:rPr>
              <a:t>教育委員会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108960"/>
            <a:ext cx="320040" cy="27432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0906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メイリオ"/>
              </a:rPr>
              <a:t>管理者アカウント：1個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520440"/>
            <a:ext cx="320040" cy="27432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5021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メイリオ"/>
              </a:rPr>
              <a:t>情報担当課：1個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931920"/>
            <a:ext cx="320040" cy="2743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39136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56A0"/>
                </a:solidFill>
                <a:latin typeface="メイリオ"/>
              </a:rPr>
              <a:t>各課への配布：8個  ← 今回の対象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251960"/>
            <a:ext cx="11430000" cy="1920240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4251960"/>
            <a:ext cx="11430000" cy="1920240"/>
          </a:xfrm>
          <a:prstGeom prst="rect">
            <a:avLst/>
          </a:prstGeom>
          <a:noFill/>
          <a:ln w="1905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297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2D5E"/>
                </a:solidFill>
                <a:latin typeface="メイリオ"/>
              </a:rPr>
              <a:t>まずは以下の課を対象に試験運用し、効果を検証します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873752"/>
            <a:ext cx="109728" cy="25603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4800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D5E"/>
                </a:solidFill>
                <a:latin typeface="メイリオ"/>
              </a:rPr>
              <a:t>総務課（2アカウント）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4873752"/>
            <a:ext cx="109728" cy="25603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03320" y="4800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D5E"/>
                </a:solidFill>
                <a:latin typeface="メイリオ"/>
              </a:rPr>
              <a:t>企画商工観光課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4873752"/>
            <a:ext cx="109728" cy="25603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4800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D5E"/>
                </a:solidFill>
                <a:latin typeface="メイリオ"/>
              </a:rPr>
              <a:t>農務課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4873752"/>
            <a:ext cx="109728" cy="25603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72600" y="4800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D5E"/>
                </a:solidFill>
                <a:latin typeface="メイリオ"/>
              </a:rPr>
              <a:t>建設水道課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5422392"/>
            <a:ext cx="109728" cy="25603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5349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D5E"/>
                </a:solidFill>
                <a:latin typeface="メイリオ"/>
              </a:rPr>
              <a:t>住民生活課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74720" y="5422392"/>
            <a:ext cx="109728" cy="25603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03320" y="5349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D5E"/>
                </a:solidFill>
                <a:latin typeface="メイリオ"/>
              </a:rPr>
              <a:t>保健福祉課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5422392"/>
            <a:ext cx="109728" cy="25603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37960" y="5349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D5E"/>
                </a:solidFill>
                <a:latin typeface="メイリオ"/>
              </a:rPr>
              <a:t>教育委員会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288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メイリオ"/>
              </a:rPr>
              <a:t>LoGoチャット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メイリオ"/>
              </a:rPr>
              <a:t>情報担当課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メイリオ"/>
              </a:rPr>
              <a:t>選出していただきたい職員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394960" cy="4572000"/>
          </a:xfrm>
          <a:prstGeom prst="rect">
            <a:avLst/>
          </a:prstGeom>
          <a:solidFill>
            <a:srgbClr val="E8F0FA"/>
          </a:solidFill>
          <a:ln w="2540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394960" cy="6858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メイリオ"/>
              </a:rPr>
              <a:t>パターン A</a:t>
            </a:r>
          </a:p>
        </p:txBody>
      </p:sp>
      <p:sp>
        <p:nvSpPr>
          <p:cNvPr id="8" name="Oval 7"/>
          <p:cNvSpPr/>
          <p:nvPr/>
        </p:nvSpPr>
        <p:spPr>
          <a:xfrm>
            <a:off x="2926080" y="1920240"/>
            <a:ext cx="914400" cy="914400"/>
          </a:xfrm>
          <a:prstGeom prst="ellipse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/>
              <a:t>🏛️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260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2D5E"/>
                </a:solidFill>
                <a:latin typeface="メイリオ"/>
              </a:rPr>
              <a:t>外部連携が多い方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566160"/>
            <a:ext cx="109728" cy="256032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4747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メイリオ"/>
              </a:rPr>
              <a:t>他の自治体の職員と頻繁にやりとりする方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33087"/>
            <a:ext cx="109728" cy="256032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04164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メイリオ"/>
              </a:rPr>
              <a:t>メールや電話のやりとりを効率化できます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700016"/>
            <a:ext cx="109728" cy="256032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608576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メイリオ"/>
              </a:rPr>
              <a:t>例）広域連携業務、国・県との調整業務 など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143000"/>
            <a:ext cx="5394960" cy="4572000"/>
          </a:xfrm>
          <a:prstGeom prst="rect">
            <a:avLst/>
          </a:prstGeom>
          <a:solidFill>
            <a:srgbClr val="E8F0FA"/>
          </a:solidFill>
          <a:ln w="25400">
            <a:solidFill>
              <a:srgbClr val="0D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143000"/>
            <a:ext cx="5394960" cy="685800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1887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メイリオ"/>
              </a:rPr>
              <a:t>パターン B</a:t>
            </a:r>
          </a:p>
        </p:txBody>
      </p:sp>
      <p:sp>
        <p:nvSpPr>
          <p:cNvPr id="19" name="Oval 18"/>
          <p:cNvSpPr/>
          <p:nvPr/>
        </p:nvSpPr>
        <p:spPr>
          <a:xfrm>
            <a:off x="8961120" y="1920240"/>
            <a:ext cx="914400" cy="914400"/>
          </a:xfrm>
          <a:prstGeom prst="ellipse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/>
              <a:t>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9260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2D5E"/>
                </a:solidFill>
                <a:latin typeface="メイリオ"/>
              </a:rPr>
              <a:t>現場作業が多い方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3566160"/>
            <a:ext cx="109728" cy="256032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34747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メイリオ"/>
              </a:rPr>
              <a:t>現場での仕事が多い方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4133087"/>
            <a:ext cx="109728" cy="256032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404164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メイリオ"/>
              </a:rPr>
              <a:t>写真・位置情報をリアルタイムで
職場のPCに送りたい方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4700016"/>
            <a:ext cx="109728" cy="256032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4608576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メイリオ"/>
              </a:rPr>
              <a:t>例）道路・施設管理、農林業務、福祉訪問 など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806440"/>
            <a:ext cx="11430000" cy="594360"/>
          </a:xfrm>
          <a:prstGeom prst="rect">
            <a:avLst/>
          </a:prstGeom>
          <a:solidFill>
            <a:srgbClr val="FFF9C4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8704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7B4500"/>
                </a:solidFill>
                <a:latin typeface="メイリオ"/>
              </a:rPr>
              <a:t>⚠ どちらにも当てはまらない場合は、情報担当課へご相談ください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メイリオ"/>
              </a:rPr>
              <a:t>LoGoチャット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メイリオ"/>
              </a:rPr>
              <a:t>情報担当課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メイリオ"/>
              </a:rPr>
              <a:t>10アカウントでできること・できないこと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731520" cy="502920"/>
          </a:xfrm>
          <a:prstGeom prst="rect">
            <a:avLst/>
          </a:prstGeom>
          <a:solidFill>
            <a:srgbClr val="1A56A0"/>
          </a:solidFill>
          <a:ln w="9525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メイリオ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097280"/>
            <a:ext cx="7772400" cy="502920"/>
          </a:xfrm>
          <a:prstGeom prst="rect">
            <a:avLst/>
          </a:prstGeom>
          <a:solidFill>
            <a:srgbClr val="1A56A0"/>
          </a:solidFill>
          <a:ln w="9525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188720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メイリオ"/>
              </a:rPr>
              <a:t>内容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0" y="1097280"/>
            <a:ext cx="2286000" cy="502920"/>
          </a:xfrm>
          <a:prstGeom prst="rect">
            <a:avLst/>
          </a:prstGeom>
          <a:solidFill>
            <a:srgbClr val="1A56A0"/>
          </a:solidFill>
          <a:ln w="9525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6840" y="11887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メイリオ"/>
              </a:rPr>
              <a:t>今回できる？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00200"/>
            <a:ext cx="731520" cy="731520"/>
          </a:xfrm>
          <a:prstGeom prst="rect">
            <a:avLst/>
          </a:prstGeom>
          <a:solidFill>
            <a:srgbClr val="E8F5E9"/>
          </a:solidFill>
          <a:ln w="9525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709928"/>
            <a:ext cx="594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E7D32"/>
                </a:solidFill>
                <a:latin typeface="メイリオ"/>
              </a:rPr>
              <a:t>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1600200"/>
            <a:ext cx="7772400" cy="731520"/>
          </a:xfrm>
          <a:prstGeom prst="rect">
            <a:avLst/>
          </a:prstGeom>
          <a:solidFill>
            <a:srgbClr val="E8F5E9"/>
          </a:solidFill>
          <a:ln w="9525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1709928"/>
            <a:ext cx="7635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24242"/>
                </a:solidFill>
                <a:latin typeface="メイリオ"/>
              </a:rPr>
              <a:t>他自治体職員との個別チャット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1600200"/>
            <a:ext cx="2286000" cy="731520"/>
          </a:xfrm>
          <a:prstGeom prst="rect">
            <a:avLst/>
          </a:prstGeom>
          <a:solidFill>
            <a:srgbClr val="E8F5E9"/>
          </a:solidFill>
          <a:ln w="9525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709928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E7D32"/>
                </a:solidFill>
                <a:latin typeface="メイリオ"/>
              </a:rPr>
              <a:t>できる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331720"/>
            <a:ext cx="731520" cy="731520"/>
          </a:xfrm>
          <a:prstGeom prst="rect">
            <a:avLst/>
          </a:prstGeom>
          <a:solidFill>
            <a:srgbClr val="E8F5E9"/>
          </a:solidFill>
          <a:ln w="9525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441448"/>
            <a:ext cx="594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E7D32"/>
                </a:solidFill>
                <a:latin typeface="メイリオ"/>
              </a:rPr>
              <a:t>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2331720"/>
            <a:ext cx="7772400" cy="731520"/>
          </a:xfrm>
          <a:prstGeom prst="rect">
            <a:avLst/>
          </a:prstGeom>
          <a:solidFill>
            <a:srgbClr val="E8F5E9"/>
          </a:solidFill>
          <a:ln w="9525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2441448"/>
            <a:ext cx="7635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24242"/>
                </a:solidFill>
                <a:latin typeface="メイリオ"/>
              </a:rPr>
              <a:t>現場写真・位置情報の送信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2331720"/>
            <a:ext cx="2286000" cy="731520"/>
          </a:xfrm>
          <a:prstGeom prst="rect">
            <a:avLst/>
          </a:prstGeom>
          <a:solidFill>
            <a:srgbClr val="E8F5E9"/>
          </a:solidFill>
          <a:ln w="9525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2441448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E7D32"/>
                </a:solidFill>
                <a:latin typeface="メイリオ"/>
              </a:rPr>
              <a:t>できる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063239"/>
            <a:ext cx="731520" cy="731520"/>
          </a:xfrm>
          <a:prstGeom prst="rect">
            <a:avLst/>
          </a:prstGeom>
          <a:solidFill>
            <a:srgbClr val="E8F5E9"/>
          </a:solidFill>
          <a:ln w="9525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172968"/>
            <a:ext cx="594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E7D32"/>
                </a:solidFill>
                <a:latin typeface="メイリオ"/>
              </a:rPr>
              <a:t>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" y="3063239"/>
            <a:ext cx="7772400" cy="731520"/>
          </a:xfrm>
          <a:prstGeom prst="rect">
            <a:avLst/>
          </a:prstGeom>
          <a:solidFill>
            <a:srgbClr val="E8F5E9"/>
          </a:solidFill>
          <a:ln w="9525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3172968"/>
            <a:ext cx="7635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24242"/>
                </a:solidFill>
                <a:latin typeface="メイリオ"/>
              </a:rPr>
              <a:t>LoGoチャットUG（全国コミュニティ）への参加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20" y="3063239"/>
            <a:ext cx="2286000" cy="731520"/>
          </a:xfrm>
          <a:prstGeom prst="rect">
            <a:avLst/>
          </a:prstGeom>
          <a:solidFill>
            <a:srgbClr val="E8F5E9"/>
          </a:solidFill>
          <a:ln w="9525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0" y="3172968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E7D32"/>
                </a:solidFill>
                <a:latin typeface="メイリオ"/>
              </a:rPr>
              <a:t>できる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794759"/>
            <a:ext cx="731520" cy="731520"/>
          </a:xfrm>
          <a:prstGeom prst="rect">
            <a:avLst/>
          </a:prstGeom>
          <a:solidFill>
            <a:srgbClr val="FFFDE7"/>
          </a:solidFill>
          <a:ln w="9525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3904487"/>
            <a:ext cx="594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8C00"/>
                </a:solidFill>
                <a:latin typeface="メイリオ"/>
              </a:rPr>
              <a:t>⚠️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7280" y="3794759"/>
            <a:ext cx="7772400" cy="731520"/>
          </a:xfrm>
          <a:prstGeom prst="rect">
            <a:avLst/>
          </a:prstGeom>
          <a:solidFill>
            <a:srgbClr val="FFFDE7"/>
          </a:solidFill>
          <a:ln w="9525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3904487"/>
            <a:ext cx="7635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24242"/>
                </a:solidFill>
                <a:latin typeface="メイリオ"/>
              </a:rPr>
              <a:t>庁内職員間のコミュニケーションツールとして活用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1120" y="3794759"/>
            <a:ext cx="2286000" cy="731520"/>
          </a:xfrm>
          <a:prstGeom prst="rect">
            <a:avLst/>
          </a:prstGeom>
          <a:solidFill>
            <a:srgbClr val="FFFDE7"/>
          </a:solidFill>
          <a:ln w="9525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3904487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8C00"/>
                </a:solidFill>
                <a:latin typeface="メイリオ"/>
              </a:rPr>
              <a:t>限定的※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526279"/>
            <a:ext cx="731520" cy="731520"/>
          </a:xfrm>
          <a:prstGeom prst="rect">
            <a:avLst/>
          </a:prstGeom>
          <a:solidFill>
            <a:srgbClr val="FFEBEE"/>
          </a:solidFill>
          <a:ln w="9525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4636007"/>
            <a:ext cx="594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62828"/>
                </a:solidFill>
                <a:latin typeface="メイリオ"/>
              </a:rPr>
              <a:t>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97280" y="4526279"/>
            <a:ext cx="7772400" cy="731520"/>
          </a:xfrm>
          <a:prstGeom prst="rect">
            <a:avLst/>
          </a:prstGeom>
          <a:solidFill>
            <a:srgbClr val="FFEBEE"/>
          </a:solidFill>
          <a:ln w="9525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88720" y="4636007"/>
            <a:ext cx="7635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24242"/>
                </a:solidFill>
                <a:latin typeface="メイリオ"/>
              </a:rPr>
              <a:t>全庁的な情報共有・一斉連絡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61120" y="4526279"/>
            <a:ext cx="2286000" cy="731520"/>
          </a:xfrm>
          <a:prstGeom prst="rect">
            <a:avLst/>
          </a:prstGeom>
          <a:solidFill>
            <a:srgbClr val="FFEBEE"/>
          </a:solidFill>
          <a:ln w="9525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0" y="4636007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C62828"/>
                </a:solidFill>
                <a:latin typeface="メイリオ"/>
              </a:rPr>
              <a:t>今回は対象外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623560"/>
            <a:ext cx="1161288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66928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メイリオ"/>
              </a:rPr>
              <a:t>※10アカウントでは庁内チャットの恩恵は限られます。まずは外部連携・現場活用での効果を検証します。全庁展開はその結果をふまえて検討します。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288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メイリオ"/>
              </a:rPr>
              <a:t>LoGoチャット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メイリオ"/>
              </a:rPr>
              <a:t>情報担当課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メイリオ"/>
              </a:rPr>
              <a:t>お願いと今後の流れ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5603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560320" cy="59436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</a:rPr>
              <a:t>STEP 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2286000" cy="411480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92807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56A0"/>
                </a:solidFill>
                <a:latin typeface="メイリオ"/>
              </a:rPr>
              <a:t>5月29日まで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2377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56A0"/>
                </a:solidFill>
                <a:latin typeface="メイリオ"/>
              </a:rPr>
              <a:t>担当者の選出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632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メイリオ"/>
              </a:rPr>
              <a:t>各課から1名、情報担当課へご連絡ください</a:t>
            </a:r>
          </a:p>
        </p:txBody>
      </p:sp>
      <p:sp>
        <p:nvSpPr>
          <p:cNvPr id="12" name="Can 11"/>
          <p:cNvSpPr/>
          <p:nvPr/>
        </p:nvSpPr>
        <p:spPr>
          <a:xfrm>
            <a:off x="2944368" y="2697480"/>
            <a:ext cx="320040" cy="457200"/>
          </a:xfrm>
          <a:prstGeom prst="can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79" y="1188720"/>
            <a:ext cx="25603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79" y="1188720"/>
            <a:ext cx="2560320" cy="594360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8999" y="1234440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</a:rPr>
              <a:t>STEP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0439" y="1874519"/>
            <a:ext cx="2286000" cy="411480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39" y="1892807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2D5E"/>
                </a:solidFill>
                <a:latin typeface="メイリオ"/>
              </a:rPr>
              <a:t>6月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377440"/>
            <a:ext cx="2377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2D5E"/>
                </a:solidFill>
                <a:latin typeface="メイリオ"/>
              </a:rPr>
              <a:t>アカウントの発行・説明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39" y="30632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メイリオ"/>
              </a:rPr>
              <a:t>情報担当課より個別にご連絡します</a:t>
            </a:r>
          </a:p>
        </p:txBody>
      </p:sp>
      <p:sp>
        <p:nvSpPr>
          <p:cNvPr id="20" name="Can 19"/>
          <p:cNvSpPr/>
          <p:nvPr/>
        </p:nvSpPr>
        <p:spPr>
          <a:xfrm>
            <a:off x="5961888" y="2697480"/>
            <a:ext cx="320040" cy="457200"/>
          </a:xfrm>
          <a:prstGeom prst="can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1188720"/>
            <a:ext cx="25603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1188720"/>
            <a:ext cx="2560320" cy="5943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234440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</a:rPr>
              <a:t>STEP 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1874519"/>
            <a:ext cx="2286000" cy="411480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1892807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565C0"/>
                </a:solidFill>
                <a:latin typeface="メイリオ"/>
              </a:rPr>
              <a:t>6月〜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377440"/>
            <a:ext cx="2377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565C0"/>
                </a:solidFill>
                <a:latin typeface="メイリオ"/>
              </a:rPr>
              <a:t>試験運用開始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0632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メイリオ"/>
              </a:rPr>
              <a:t>実際に使ってみて、課題・効果をご報告ください</a:t>
            </a:r>
          </a:p>
        </p:txBody>
      </p:sp>
      <p:sp>
        <p:nvSpPr>
          <p:cNvPr id="28" name="Can 27"/>
          <p:cNvSpPr/>
          <p:nvPr/>
        </p:nvSpPr>
        <p:spPr>
          <a:xfrm>
            <a:off x="8979408" y="2697480"/>
            <a:ext cx="320040" cy="457200"/>
          </a:xfrm>
          <a:prstGeom prst="can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18319" y="1188720"/>
            <a:ext cx="25603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1188720"/>
            <a:ext cx="2560320" cy="5943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64040" y="1234440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</a:rPr>
              <a:t>STEP 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55480" y="1874519"/>
            <a:ext cx="2286000" cy="411480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55480" y="1892807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47A1"/>
                </a:solidFill>
                <a:latin typeface="メイリオ"/>
              </a:rPr>
              <a:t>来年度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59" y="2377440"/>
            <a:ext cx="2377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47A1"/>
                </a:solidFill>
                <a:latin typeface="メイリオ"/>
              </a:rPr>
              <a:t>全庁展開の検討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30632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メイリオ"/>
              </a:rPr>
              <a:t>検証結果をもとに継続・拡大を判断します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029200"/>
            <a:ext cx="11430000" cy="1188720"/>
          </a:xfrm>
          <a:prstGeom prst="rect">
            <a:avLst/>
          </a:prstGeom>
          <a:solidFill>
            <a:srgbClr val="E8F0FA"/>
          </a:solidFill>
          <a:ln w="2540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074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メイリオ"/>
              </a:rPr>
              <a:t>📞  ご質問・ご相談は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486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D5E"/>
                </a:solidFill>
                <a:latin typeface="メイリオ"/>
              </a:rPr>
              <a:t>総務課総務グループ 情報防災係 まで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288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メイリオ"/>
              </a:rPr>
              <a:t>LoGoチャット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メイリオ"/>
              </a:rPr>
              <a:t>情報担当課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